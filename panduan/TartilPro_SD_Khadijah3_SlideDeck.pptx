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2194560"/>
            <a:ext cx="10972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4297680"/>
            <a:ext cx="109728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64E3B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71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B5563"/>
                </a:solidFill>
                <a:latin typeface="Segoe UI"/>
              </a:defRPr>
            </a:pPr>
            <a:r>
              <a:t>Transformasi Digital Pembelajaran &amp; Evaluasi</a:t>
            </a:r>
            <a:br/>
            <a:r>
              <a:t>Tartil Al-Qur'an Berbasis 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931920"/>
            <a:ext cx="384048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39593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Modern Islamic Tech Solution</a:t>
            </a:r>
          </a:p>
        </p:txBody>
      </p:sp>
      <p:sp>
        <p:nvSpPr>
          <p:cNvPr id="10" name="Oval 9"/>
          <p:cNvSpPr/>
          <p:nvPr/>
        </p:nvSpPr>
        <p:spPr>
          <a:xfrm>
            <a:off x="9265615" y="731520"/>
            <a:ext cx="1463040" cy="146304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997135" y="1737360"/>
            <a:ext cx="1005840" cy="100584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Latar Belakang &amp; 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0D2"/>
                </a:solidFill>
                <a:latin typeface="Segoe UI"/>
              </a:defRPr>
            </a:pPr>
            <a:r>
              <a:t>Mengapa SD Khadijah 3 butuh transformasi digital?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3949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Tantangan Saat 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Pencatatan hafalan &amp; bacaan masih manual di buku/jurnal.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Rekap nilai tartil memakan waktu berhari-hari.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Orang tua terbatas mengakses perkembangan anak.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Data rapor rentan hilang dan sulit dianalisis.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94960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4E3B"/>
                </a:solidFill>
                <a:latin typeface="Segoe UI"/>
              </a:defRPr>
            </a:pPr>
            <a:r>
              <a:t>Solusi TartilPro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9377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Digitalisasi</a:t>
            </a:r>
            <a:r>
              <a:rPr dirty="0"/>
              <a:t> </a:t>
            </a:r>
            <a:r>
              <a:rPr dirty="0" err="1"/>
              <a:t>pencatatan</a:t>
            </a:r>
            <a:r>
              <a:rPr dirty="0"/>
              <a:t> </a:t>
            </a:r>
            <a:r>
              <a:rPr dirty="0" err="1"/>
              <a:t>hafalan</a:t>
            </a:r>
            <a:r>
              <a:rPr dirty="0"/>
              <a:t> &amp; </a:t>
            </a:r>
            <a:r>
              <a:rPr dirty="0" err="1"/>
              <a:t>bacaan</a:t>
            </a:r>
            <a:r>
              <a:rPr dirty="0"/>
              <a:t> Al-Qur'an real-time.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Penilaian</a:t>
            </a:r>
            <a:r>
              <a:rPr dirty="0"/>
              <a:t> </a:t>
            </a:r>
            <a:r>
              <a:rPr dirty="0" err="1"/>
              <a:t>tartil</a:t>
            </a:r>
            <a:r>
              <a:rPr dirty="0"/>
              <a:t> </a:t>
            </a:r>
            <a:r>
              <a:rPr dirty="0" err="1"/>
              <a:t>terstruktur</a:t>
            </a:r>
            <a:r>
              <a:rPr dirty="0"/>
              <a:t>: tajwid, </a:t>
            </a:r>
            <a:r>
              <a:rPr dirty="0" err="1"/>
              <a:t>makhraj</a:t>
            </a:r>
            <a:r>
              <a:rPr dirty="0"/>
              <a:t>, </a:t>
            </a:r>
            <a:r>
              <a:rPr dirty="0" err="1"/>
              <a:t>hafalan</a:t>
            </a:r>
            <a:r>
              <a:rPr lang="en-US" dirty="0"/>
              <a:t> dan </a:t>
            </a:r>
            <a:r>
              <a:rPr lang="en-US" dirty="0" err="1"/>
              <a:t>jurnal</a:t>
            </a:r>
            <a:r>
              <a:rPr lang="en-US" dirty="0"/>
              <a:t> </a:t>
            </a:r>
            <a:r>
              <a:rPr lang="en-US" dirty="0" err="1"/>
              <a:t>harian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rPr dirty="0"/>
              <a:t>Portal </a:t>
            </a:r>
            <a:r>
              <a:rPr dirty="0" err="1"/>
              <a:t>wali</a:t>
            </a:r>
            <a:r>
              <a:rPr dirty="0"/>
              <a:t> murid untuk </a:t>
            </a:r>
            <a:r>
              <a:rPr dirty="0" err="1"/>
              <a:t>transparansi</a:t>
            </a:r>
            <a:r>
              <a:rPr dirty="0"/>
              <a:t> </a:t>
            </a:r>
            <a:r>
              <a:rPr dirty="0" err="1"/>
              <a:t>perkembangan</a:t>
            </a:r>
            <a:r>
              <a:rPr dirty="0"/>
              <a:t> </a:t>
            </a:r>
            <a:r>
              <a:rPr dirty="0" err="1"/>
              <a:t>anak</a:t>
            </a:r>
            <a:r>
              <a:rPr lang="en-US" dirty="0"/>
              <a:t> per semester </a:t>
            </a:r>
            <a:r>
              <a:rPr lang="en-US" dirty="0" err="1"/>
              <a:t>maupun</a:t>
            </a:r>
            <a:r>
              <a:rPr lang="en-US" dirty="0"/>
              <a:t> per Tahun </a:t>
            </a:r>
            <a:r>
              <a:rPr lang="en-US"/>
              <a:t>Ajaran</a:t>
            </a:r>
            <a:r>
              <a:t>.</a:t>
            </a:r>
            <a:endParaRPr dirty="0"/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rPr dirty="0"/>
              <a:t>Dashboard analytics untuk </a:t>
            </a:r>
            <a:r>
              <a:rPr dirty="0" err="1"/>
              <a:t>pengambilan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cepat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 Produk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 Utama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0D2"/>
                </a:solidFill>
                <a:latin typeface="Segoe UI"/>
              </a:defRPr>
            </a:pPr>
            <a:r>
              <a:t>Kelola data siswa, kelas, dan halaqah tartil dengan terstruktur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1645920" cy="164592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47857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64E3B"/>
                </a:solidFill>
                <a:latin typeface="Segoe UI"/>
              </a:defRPr>
            </a:pPr>
            <a:r>
              <a:t>Modul Manajemen Siswa &amp; Halaqah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514600"/>
            <a:ext cx="182880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Pendaftaran dan pengelompokan siswa per kelas/halaqah.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Manajemen guru pembimbing dan pembagian kelas tartil.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Tracking perpindahan, kenaikan kelas, dan status siswa.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Integrasi data dengan semester &amp; tahun ajaran aktif.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 Produk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 Utama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0D2"/>
                </a:solidFill>
                <a:latin typeface="Segoe UI"/>
              </a:defRPr>
            </a:pPr>
            <a:r>
              <a:t>Penilaian komprehensif: tajwid, makhraj, dan hafalan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1645920" cy="164592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47857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64E3B"/>
                </a:solidFill>
                <a:latin typeface="Segoe UI"/>
              </a:defRPr>
            </a:pPr>
            <a:r>
              <a:t>Modul Penilaian &amp; Tartil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514600"/>
            <a:ext cx="182880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86868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rPr dirty="0"/>
              <a:t>Input </a:t>
            </a:r>
            <a:r>
              <a:rPr dirty="0" err="1"/>
              <a:t>nilai</a:t>
            </a:r>
            <a:r>
              <a:rPr dirty="0"/>
              <a:t> B/C/K untuk </a:t>
            </a:r>
            <a:r>
              <a:rPr dirty="0" err="1"/>
              <a:t>setiap</a:t>
            </a:r>
            <a:r>
              <a:rPr dirty="0"/>
              <a:t> siswa </a:t>
            </a:r>
            <a:r>
              <a:rPr dirty="0" err="1"/>
              <a:t>secara</a:t>
            </a:r>
            <a:r>
              <a:rPr dirty="0"/>
              <a:t> batch </a:t>
            </a:r>
            <a:r>
              <a:rPr dirty="0" err="1"/>
              <a:t>harian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Penilaian</a:t>
            </a:r>
            <a:r>
              <a:rPr dirty="0"/>
              <a:t> </a:t>
            </a:r>
            <a:r>
              <a:rPr dirty="0" err="1"/>
              <a:t>aspek</a:t>
            </a:r>
            <a:r>
              <a:rPr dirty="0"/>
              <a:t> tajwid, </a:t>
            </a:r>
            <a:r>
              <a:rPr dirty="0" err="1"/>
              <a:t>makhraj</a:t>
            </a:r>
            <a:r>
              <a:rPr dirty="0"/>
              <a:t>, dan </a:t>
            </a:r>
            <a:r>
              <a:rPr dirty="0" err="1"/>
              <a:t>kelanca</a:t>
            </a:r>
            <a:r>
              <a:rPr lang="en-US" dirty="0" err="1"/>
              <a:t>r</a:t>
            </a:r>
            <a:r>
              <a:rPr dirty="0" err="1"/>
              <a:t>an</a:t>
            </a:r>
            <a:r>
              <a:rPr dirty="0"/>
              <a:t> </a:t>
            </a:r>
            <a:r>
              <a:rPr dirty="0" err="1"/>
              <a:t>bacaan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rPr dirty="0"/>
              <a:t>Tracking </a:t>
            </a:r>
            <a:r>
              <a:rPr dirty="0" err="1"/>
              <a:t>hafalan</a:t>
            </a:r>
            <a:r>
              <a:rPr dirty="0"/>
              <a:t> per </a:t>
            </a:r>
            <a:r>
              <a:rPr dirty="0" err="1"/>
              <a:t>juz</a:t>
            </a:r>
            <a:r>
              <a:rPr dirty="0"/>
              <a:t> 1-30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persentase</a:t>
            </a:r>
            <a:r>
              <a:rPr dirty="0"/>
              <a:t> </a:t>
            </a:r>
            <a:r>
              <a:rPr dirty="0" err="1"/>
              <a:t>kumulatif</a:t>
            </a:r>
            <a:r>
              <a:rPr dirty="0"/>
              <a:t>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Rekap</a:t>
            </a:r>
            <a:r>
              <a:rPr dirty="0"/>
              <a:t> R2 (rata-rata </a:t>
            </a:r>
            <a:r>
              <a:rPr dirty="0" err="1"/>
              <a:t>akhir</a:t>
            </a:r>
            <a:r>
              <a:rPr dirty="0"/>
              <a:t>) </a:t>
            </a:r>
            <a:r>
              <a:rPr dirty="0" err="1"/>
              <a:t>otomatis</a:t>
            </a:r>
            <a:r>
              <a:rPr dirty="0"/>
              <a:t> untuk </a:t>
            </a:r>
            <a:r>
              <a:rPr dirty="0" err="1"/>
              <a:t>rapor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 Produk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 Utama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0D2"/>
                </a:solidFill>
                <a:latin typeface="Segoe UI"/>
              </a:defRPr>
            </a:pPr>
            <a:r>
              <a:t>Akses transparan orang tua ke perkembangan anak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1645920" cy="164592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47857"/>
                </a:solidFill>
                <a:latin typeface="Segoe UI"/>
              </a:defRPr>
            </a:pPr>
            <a:r>
              <a:t>👨‍👩‍👧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64E3B"/>
                </a:solidFill>
                <a:latin typeface="Segoe UI"/>
              </a:defRPr>
            </a:pPr>
            <a:r>
              <a:t>Modul Portal Wali Murid &amp; Lapor Digital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514600"/>
            <a:ext cx="182880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Login aman untuk wali murid menggunakan NIS dan nomor HP.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Lihat nilai tartil, absensi, dan hafalan anak secara real-time.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Unduh rapor tartil digital kapan saja.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Notifikasi perkembangan dan laporan mingguan.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 Produk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 Utama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0D2"/>
                </a:solidFill>
                <a:latin typeface="Segoe UI"/>
              </a:defRPr>
            </a:pPr>
            <a:r>
              <a:t>Wawasan data untuk kepala sekolah dan admin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1645920" cy="164592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47857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64E3B"/>
                </a:solidFill>
                <a:latin typeface="Segoe UI"/>
              </a:defRPr>
            </a:pPr>
            <a:r>
              <a:t>Modul Analytics &amp; Executive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514600"/>
            <a:ext cx="182880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Dashboard rekap nilai, absensi, dan hafalan per kelas.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Visualisasi progress siswa dan perbandingan antar semester.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Export laporan PDF &amp; Excel untuk arsip dan rapat.</a:t>
            </a:r>
          </a:p>
          <a:p>
            <a:pPr algn="l">
              <a:spcAft>
                <a:spcPts val="1000"/>
              </a:spcAft>
              <a:defRPr sz="1800">
                <a:solidFill>
                  <a:srgbClr val="1F2937"/>
                </a:solidFill>
                <a:latin typeface="Segoe UI"/>
              </a:defRPr>
            </a:pPr>
            <a:r>
              <a:t>Audit trail lengkap atas setiap perubahan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 Produk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Fitur Unggulan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0D2"/>
                </a:solidFill>
                <a:latin typeface="Segoe UI"/>
              </a:defRPr>
            </a:pPr>
            <a:r>
              <a:t>Inovasi yang memudahkan guru, siswa, dan wali murid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109728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645920"/>
            <a:ext cx="868680" cy="86868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F37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5448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4E3B"/>
                </a:solidFill>
                <a:latin typeface="Segoe UI"/>
              </a:defRPr>
            </a:pPr>
            <a:r>
              <a:t>Live Scoring via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563"/>
                </a:solidFill>
                <a:latin typeface="Segoe UI"/>
              </a:defRPr>
            </a:pPr>
            <a:r>
              <a:t>Guru dapat memberi nilai langsung dari ponsel saat pembelajaran berlangsung.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99232"/>
            <a:ext cx="109728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999232"/>
            <a:ext cx="109728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227832"/>
            <a:ext cx="868680" cy="86868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73552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F37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3639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4E3B"/>
                </a:solidFill>
                <a:latin typeface="Segoe UI"/>
              </a:defRPr>
            </a:pPr>
            <a:r>
              <a:t>Rapor Tartil Digital Otomatis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50215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563"/>
                </a:solidFill>
                <a:latin typeface="Segoe UI"/>
              </a:defRPr>
            </a:pPr>
            <a:r>
              <a:t>Rapor nilai tartil, absensi, dan hafalan tergenerasi otomatis per semester.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81144"/>
            <a:ext cx="109728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4581144"/>
            <a:ext cx="109728" cy="13258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4809744"/>
            <a:ext cx="868680" cy="86868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855464"/>
            <a:ext cx="868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4AF37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1830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4E3B"/>
                </a:solidFill>
                <a:latin typeface="Segoe UI"/>
              </a:defRPr>
            </a:pPr>
            <a:r>
              <a:t>Rekap Presensi Pembiasaan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084064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B5563"/>
                </a:solidFill>
                <a:latin typeface="Segoe UI"/>
              </a:defRPr>
            </a:pPr>
            <a:r>
              <a:t>Presensi harian dan pembiasaan bacaan terekap tanpa input ganda.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295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 Produk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Keunggulan</a:t>
            </a:r>
            <a:r>
              <a:rPr dirty="0"/>
              <a:t> Server </a:t>
            </a:r>
            <a:r>
              <a:rPr lang="en-US" dirty="0"/>
              <a:t>Cloud </a:t>
            </a:r>
            <a:r>
              <a:rPr lang="en-US" dirty="0" err="1"/>
              <a:t>Helmark</a:t>
            </a:r>
            <a:r>
              <a:rPr lang="en-US" dirty="0"/>
              <a:t> Tech Digital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0D2"/>
                </a:solidFill>
                <a:latin typeface="Segoe UI"/>
              </a:defRPr>
            </a:pPr>
            <a:r>
              <a:t>Infrastruktur andal untuk skala sekolah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868680" y="1965960"/>
            <a:ext cx="1005840" cy="100584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0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F37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874520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4E3B"/>
                </a:solidFill>
                <a:latin typeface="Segoe UI"/>
              </a:defRPr>
            </a:pPr>
            <a:r>
              <a:rPr lang="en-US" dirty="0" err="1"/>
              <a:t>Didukung</a:t>
            </a:r>
            <a:r>
              <a:rPr lang="en-US" dirty="0"/>
              <a:t> Cloud Server </a:t>
            </a:r>
            <a:r>
              <a:rPr lang="en-US" dirty="0" err="1"/>
              <a:t>Canggih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Ini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057400" y="2423160"/>
            <a:ext cx="3657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Bebas</a:t>
            </a:r>
            <a:r>
              <a:rPr dirty="0"/>
              <a:t> down </a:t>
            </a:r>
            <a:r>
              <a:rPr dirty="0" err="1"/>
              <a:t>saat</a:t>
            </a:r>
            <a:r>
              <a:rPr dirty="0"/>
              <a:t> </a:t>
            </a:r>
            <a:r>
              <a:rPr lang="en-US" dirty="0"/>
              <a:t>proses entry</a:t>
            </a:r>
            <a:r>
              <a:rPr dirty="0"/>
              <a:t> dan traffic </a:t>
            </a:r>
            <a:r>
              <a:rPr dirty="0" err="1"/>
              <a:t>tinggi</a:t>
            </a:r>
            <a:r>
              <a:rPr lang="en-US" dirty="0"/>
              <a:t>,</a:t>
            </a:r>
            <a:r>
              <a:rPr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replica </a:t>
            </a:r>
            <a:r>
              <a:rPr lang="en-US" dirty="0" err="1"/>
              <a:t>hingga</a:t>
            </a:r>
            <a:r>
              <a:rPr lang="en-US" dirty="0"/>
              <a:t> 10 replica yang replica ke 2 </a:t>
            </a:r>
            <a:r>
              <a:rPr lang="en-US" dirty="0" err="1"/>
              <a:t>dst</a:t>
            </a:r>
            <a:r>
              <a:rPr lang="en-US" dirty="0"/>
              <a:t>.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Ketika website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request </a:t>
            </a:r>
            <a:r>
              <a:rPr lang="en-US" dirty="0" err="1"/>
              <a:t>tinggi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4206240"/>
            <a:ext cx="1005840" cy="100584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100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F37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4E3B"/>
                </a:solidFill>
                <a:latin typeface="Segoe UI"/>
              </a:defRPr>
            </a:pPr>
            <a:r>
              <a:t>Keamanan &amp;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663440"/>
            <a:ext cx="365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Proteksi</a:t>
            </a:r>
            <a:r>
              <a:rPr dirty="0"/>
              <a:t> data </a:t>
            </a:r>
            <a:r>
              <a:rPr dirty="0" err="1"/>
              <a:t>terjamin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ganda</a:t>
            </a:r>
            <a:r>
              <a:rPr lang="en-US" dirty="0"/>
              <a:t> pada server dan website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backup </a:t>
            </a:r>
            <a:r>
              <a:rPr dirty="0" err="1"/>
              <a:t>otomatis</a:t>
            </a:r>
            <a:r>
              <a:rPr dirty="0"/>
              <a:t> </a:t>
            </a:r>
            <a:r>
              <a:rPr dirty="0" err="1"/>
              <a:t>berkala</a:t>
            </a:r>
            <a:r>
              <a:rPr dirty="0"/>
              <a:t>.</a:t>
            </a:r>
            <a:r>
              <a:rPr lang="en-US" dirty="0"/>
              <a:t> 	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1965960"/>
            <a:ext cx="1005840" cy="100584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100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F37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874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4E3B"/>
                </a:solidFill>
                <a:latin typeface="Segoe UI"/>
              </a:defRPr>
            </a:pPr>
            <a:r>
              <a:t>Performa Ultra Cepat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423160"/>
            <a:ext cx="3657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Server cloud </a:t>
            </a:r>
            <a:r>
              <a:rPr dirty="0" err="1"/>
              <a:t>dioptimalkan</a:t>
            </a:r>
            <a:r>
              <a:rPr dirty="0"/>
              <a:t> untuk </a:t>
            </a:r>
            <a:r>
              <a:rPr dirty="0" err="1"/>
              <a:t>respons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real-time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infrastruktur</a:t>
            </a:r>
            <a:r>
              <a:rPr lang="en-US" dirty="0"/>
              <a:t> server </a:t>
            </a:r>
            <a:r>
              <a:rPr lang="en-US" dirty="0" err="1"/>
              <a:t>terbaru</a:t>
            </a:r>
            <a:r>
              <a:rPr lang="en-US"/>
              <a:t>.</a:t>
            </a:r>
            <a:r>
              <a:t>.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126480" y="379476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55080" y="4206240"/>
            <a:ext cx="1005840" cy="1005840"/>
          </a:xfrm>
          <a:prstGeom prst="ellipse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297680"/>
            <a:ext cx="1005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AF37"/>
                </a:solidFill>
                <a:latin typeface="Segoe UI"/>
              </a:defRPr>
            </a:pPr>
            <a: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64E3B"/>
                </a:solidFill>
                <a:latin typeface="Segoe UI"/>
              </a:defRPr>
            </a:pPr>
            <a:r>
              <a:t>Zero 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6634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Fokus</a:t>
            </a:r>
            <a:r>
              <a:rPr dirty="0"/>
              <a:t> </a:t>
            </a:r>
            <a:r>
              <a:rPr dirty="0" err="1"/>
              <a:t>mengajar</a:t>
            </a:r>
            <a:r>
              <a:rPr dirty="0"/>
              <a:t>; server, patch, dan monitoring </a:t>
            </a:r>
            <a:r>
              <a:rPr dirty="0" err="1"/>
              <a:t>ditangani</a:t>
            </a:r>
            <a:r>
              <a:rPr dirty="0"/>
              <a:t> </a:t>
            </a:r>
            <a:r>
              <a:rPr dirty="0" err="1"/>
              <a:t>tim</a:t>
            </a:r>
            <a:r>
              <a:rPr dirty="0"/>
              <a:t> kami.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1295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 Produk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Dampak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AF0D2"/>
                </a:solidFill>
                <a:latin typeface="Segoe UI"/>
              </a:defRPr>
            </a:pPr>
            <a:r>
              <a:t>Manfaat nyata dan rencana go-live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Dampak yang Diharapkan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Efisiensi rekap nilai tartil naik hingga 80%.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Transparansi perkembangan siswa ke orang tua meningkat.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Data hafalan dan rapor tersimpan aman &amp; terpusat.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Guru lebih fokus mengajar, bukan mengelola administrasi.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864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00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64E3B"/>
                </a:solidFill>
                <a:latin typeface="Segoe UI"/>
              </a:defRPr>
            </a:pPr>
            <a:r>
              <a:t>Roadmap Go-Live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Minggu 1-2: Data awal siswa, guru, dan kelas tersedia.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Minggu 3: Pelatihan penggunaan aplikasi untuk guru &amp; admin.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Minggu 4: Uji coba parallel dengan pencatatan manual.</a:t>
            </a:r>
          </a:p>
          <a:p>
            <a:pPr algn="l">
              <a:spcAft>
                <a:spcPts val="1000"/>
              </a:spcAft>
              <a:defRPr sz="1500">
                <a:solidFill>
                  <a:srgbClr val="1F2937"/>
                </a:solidFill>
                <a:latin typeface="Segoe UI"/>
              </a:defRPr>
            </a:pPr>
            <a:r>
              <a:t>Bulan 2: Go-live penuh &amp; evaluasi bersama SD Khadijah 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Presentasi Produk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389120" y="731520"/>
            <a:ext cx="3291840" cy="329184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09160" y="1051560"/>
            <a:ext cx="2651760" cy="265176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420624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AF37"/>
                </a:solidFill>
                <a:latin typeface="Segoe UI"/>
              </a:defRPr>
            </a:pPr>
            <a:r>
              <a:t>TartilPro x SD Khadijah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Transformasi Digital Pembelajaran &amp; Evaluasi Tartil Al-Qur'an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677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Helmi</cp:lastModifiedBy>
  <cp:revision>11</cp:revision>
  <dcterms:created xsi:type="dcterms:W3CDTF">2013-01-27T09:14:16Z</dcterms:created>
  <dcterms:modified xsi:type="dcterms:W3CDTF">2026-08-24T04:06:12Z</dcterms:modified>
  <cp:category/>
</cp:coreProperties>
</file>